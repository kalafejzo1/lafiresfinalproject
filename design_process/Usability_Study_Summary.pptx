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 Study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Wildfire Risk &amp; Investment Dashboard  •  Group 5 — Amin Sharifi, Kala Fejzo, Moreki Khobotlo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45129" cy="4983480"/>
          </a:xfrm>
          <a:prstGeom prst="roundRect">
            <a:avLst>
              <a:gd name="adj" fmla="val 3095"/>
            </a:avLst>
          </a:prstGeom>
          <a:solidFill>
            <a:srgbClr val="EEF6F0"/>
          </a:solidFill>
          <a:ln/>
          <a:effectLst>
            <a:outerShdw sx="100000" sy="100000" kx="0" ky="0" algn="bl" rotWithShape="0" blurRad="76200" dist="25400" dir="5400000">
              <a:srgbClr val="8A8F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5C8A73"/>
          </a:solidFill>
          <a:ln/>
        </p:spPr>
      </p:sp>
      <p:pic>
        <p:nvPicPr>
          <p:cNvPr id="6" name="Image 0" descr="participa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1051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24478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29050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5C8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2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29050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tested the dashboard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749040"/>
            <a:ext cx="29050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role-played one persona: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4297680"/>
            <a:ext cx="290504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homebuyer</a:t>
            </a:r>
            <a:endParaRPr lang="en-US" sz="1150" dirty="0"/>
          </a:p>
          <a:p>
            <a:pPr algn="l"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</a:t>
            </a:r>
            <a:endParaRPr lang="en-US" sz="1150" dirty="0"/>
          </a:p>
          <a:p>
            <a:pPr algn="l"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investor</a:t>
            </a:r>
            <a:endParaRPr lang="en-US" sz="1150" dirty="0"/>
          </a:p>
          <a:p>
            <a:pPr algn="l"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professional</a:t>
            </a:r>
            <a:endParaRPr lang="en-US" sz="1150" dirty="0"/>
          </a:p>
          <a:p>
            <a:pPr algn="l" marL="152400" indent="-1524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Policymaker / planner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22369" y="1417320"/>
            <a:ext cx="3545129" cy="4983480"/>
          </a:xfrm>
          <a:prstGeom prst="roundRect">
            <a:avLst>
              <a:gd name="adj" fmla="val 3095"/>
            </a:avLst>
          </a:prstGeom>
          <a:solidFill>
            <a:srgbClr val="EBF3F8"/>
          </a:solidFill>
          <a:ln/>
          <a:effectLst>
            <a:outerShdw sx="100000" sy="100000" kx="0" ky="0" algn="bl" rotWithShape="0" blurRad="76200" dist="25400" dir="5400000">
              <a:srgbClr val="8A8F99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6689" y="1691640"/>
            <a:ext cx="502920" cy="502920"/>
          </a:xfrm>
          <a:prstGeom prst="ellipse">
            <a:avLst/>
          </a:prstGeom>
          <a:solidFill>
            <a:srgbClr val="5D8FB0"/>
          </a:solidFill>
          <a:ln/>
        </p:spPr>
      </p:sp>
      <p:pic>
        <p:nvPicPr>
          <p:cNvPr id="14" name="Image 1" descr="tas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561" y="1810512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6769" y="1691640"/>
            <a:ext cx="24478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42409" y="2377440"/>
            <a:ext cx="2905049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highest wildfire-risk ZIP</a:t>
            </a:r>
            <a:endParaRPr lang="en-US" sz="1300" dirty="0"/>
          </a:p>
          <a:p>
            <a:pPr algn="l" marL="177800" indent="-1778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wildfire risk: Pasadena vs. Santa Monica</a:t>
            </a:r>
            <a:endParaRPr lang="en-US" sz="1300" dirty="0"/>
          </a:p>
          <a:p>
            <a:pPr algn="l" marL="177800" indent="-1778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highest-appreciation ZIP</a:t>
            </a:r>
            <a:endParaRPr lang="en-US" sz="1300" dirty="0"/>
          </a:p>
          <a:p>
            <a:pPr algn="l" marL="177800" indent="-1778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fastest-recovering neighborhood</a:t>
            </a:r>
            <a:endParaRPr lang="en-US" sz="1300" dirty="0"/>
          </a:p>
          <a:p>
            <a:pPr algn="l" marL="177800" indent="-1778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Investment Score means</a:t>
            </a:r>
            <a:endParaRPr lang="en-US" sz="1300" dirty="0"/>
          </a:p>
          <a:p>
            <a:pPr algn="l" marL="177800" indent="-177800">
              <a:lnSpc>
                <a:spcPct val="110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one ZIP for long-term investment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87538" y="1417320"/>
            <a:ext cx="3545129" cy="4983480"/>
          </a:xfrm>
          <a:prstGeom prst="roundRect">
            <a:avLst>
              <a:gd name="adj" fmla="val 3095"/>
            </a:avLst>
          </a:prstGeom>
          <a:solidFill>
            <a:srgbClr val="FBEEEC"/>
          </a:solidFill>
          <a:ln/>
          <a:effectLst>
            <a:outerShdw sx="100000" sy="100000" kx="0" ky="0" algn="bl" rotWithShape="0" blurRad="76200" dist="25400" dir="5400000">
              <a:srgbClr val="8A8F99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61858" y="1691640"/>
            <a:ext cx="502920" cy="502920"/>
          </a:xfrm>
          <a:prstGeom prst="ellipse">
            <a:avLst/>
          </a:prstGeom>
          <a:solidFill>
            <a:srgbClr val="D9776C"/>
          </a:solidFill>
          <a:ln/>
        </p:spPr>
      </p:sp>
      <p:pic>
        <p:nvPicPr>
          <p:cNvPr id="19" name="Image 2" descr="find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30" y="1810512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01938" y="1691640"/>
            <a:ext cx="24478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507578" y="2377440"/>
            <a:ext cx="29050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7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Misunderstood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Investment Score works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507578" y="3154680"/>
            <a:ext cx="29050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7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Overlooked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controls at first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507578" y="3931920"/>
            <a:ext cx="29050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7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polygons to be clickable too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507578" y="4709160"/>
            <a:ext cx="29050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7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bar and more financial data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507578" y="5577840"/>
            <a:ext cx="29050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participants called the map “something Zillow or Redfin could build.”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2026-08-02T18:40:05Z</dcterms:created>
  <dcterms:modified xsi:type="dcterms:W3CDTF">2026-08-02T18:40:05Z</dcterms:modified>
</cp:coreProperties>
</file>